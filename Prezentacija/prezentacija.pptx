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media/image7.png" ContentType="image/png"/>
  <Override PartName="/ppt/media/image2.png" ContentType="image/png"/>
  <Override PartName="/ppt/media/image1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656000"/>
            <a:ext cx="9071280" cy="29584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9071280" cy="295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4426560" cy="295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152320" y="1656000"/>
            <a:ext cx="4426560" cy="295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504000" y="565560"/>
            <a:ext cx="9071280" cy="4386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5152320" y="1656000"/>
            <a:ext cx="4426560" cy="295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504000" y="320112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4426560" cy="295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320" y="165600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152320" y="320112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5152320" y="165600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504000" y="3201120"/>
            <a:ext cx="90712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90712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504000" y="3201120"/>
            <a:ext cx="90712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5152320" y="165600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504000" y="320112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5152320" y="320112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29206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571200" y="1656000"/>
            <a:ext cx="29206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638040" y="1656000"/>
            <a:ext cx="29206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504000" y="3201120"/>
            <a:ext cx="29206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571200" y="3201120"/>
            <a:ext cx="29206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638040" y="3201120"/>
            <a:ext cx="29206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504000" y="1656000"/>
            <a:ext cx="9071280" cy="29584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9071280" cy="295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4426560" cy="295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5152320" y="1656000"/>
            <a:ext cx="4426560" cy="295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504000" y="565560"/>
            <a:ext cx="9071280" cy="4386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152320" y="1656000"/>
            <a:ext cx="4426560" cy="295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504000" y="320112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4426560" cy="295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152320" y="165600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5152320" y="320112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320" y="165600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201120"/>
            <a:ext cx="90712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90712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504000" y="3201120"/>
            <a:ext cx="90712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52320" y="165600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4000" y="320112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5152320" y="3201120"/>
            <a:ext cx="442656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29206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571200" y="1656000"/>
            <a:ext cx="29206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638040" y="1656000"/>
            <a:ext cx="29206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504000" y="3201120"/>
            <a:ext cx="29206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571200" y="3201120"/>
            <a:ext cx="29206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638040" y="3201120"/>
            <a:ext cx="2920680" cy="1410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5104800"/>
            <a:ext cx="10079640" cy="580680"/>
          </a:xfrm>
          <a:prstGeom prst="rect">
            <a:avLst/>
          </a:prstGeom>
          <a:ln>
            <a:noFill/>
          </a:ln>
        </p:spPr>
      </p:pic>
      <p:pic>
        <p:nvPicPr>
          <p:cNvPr id="1" name="" descr=""/>
          <p:cNvPicPr/>
          <p:nvPr/>
        </p:nvPicPr>
        <p:blipFill>
          <a:blip r:embed="rId3"/>
          <a:stretch/>
        </p:blipFill>
        <p:spPr>
          <a:xfrm>
            <a:off x="0" y="0"/>
            <a:ext cx="10079640" cy="323640"/>
          </a:xfrm>
          <a:prstGeom prst="rect">
            <a:avLst/>
          </a:prstGeom>
          <a:ln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" descr=""/>
          <p:cNvPicPr/>
          <p:nvPr/>
        </p:nvPicPr>
        <p:blipFill>
          <a:blip r:embed="rId2"/>
          <a:stretch/>
        </p:blipFill>
        <p:spPr>
          <a:xfrm>
            <a:off x="6120" y="0"/>
            <a:ext cx="10079640" cy="323640"/>
          </a:xfrm>
          <a:prstGeom prst="rect">
            <a:avLst/>
          </a:prstGeom>
          <a:ln>
            <a:noFill/>
          </a:ln>
        </p:spPr>
      </p:pic>
      <p:pic>
        <p:nvPicPr>
          <p:cNvPr id="41" name="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9640" cy="323640"/>
          </a:xfrm>
          <a:prstGeom prst="rect">
            <a:avLst/>
          </a:prstGeom>
          <a:ln>
            <a:noFill/>
          </a:ln>
        </p:spPr>
      </p:pic>
      <p:sp>
        <p:nvSpPr>
          <p:cNvPr id="42" name="CustomShape 1"/>
          <p:cNvSpPr/>
          <p:nvPr/>
        </p:nvSpPr>
        <p:spPr>
          <a:xfrm>
            <a:off x="1728360" y="5400360"/>
            <a:ext cx="2347920" cy="39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3" name="CustomShape 2"/>
          <p:cNvSpPr/>
          <p:nvPr/>
        </p:nvSpPr>
        <p:spPr>
          <a:xfrm>
            <a:off x="4221360" y="5400360"/>
            <a:ext cx="3194640" cy="39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7659720" y="5400360"/>
            <a:ext cx="2347920" cy="39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r">
              <a:lnSpc>
                <a:spcPct val="100000"/>
              </a:lnSpc>
            </a:pPr>
            <a:fld id="{AAEEEB10-6C5B-4780-8EE8-4D1663EF9BC0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280" cy="94608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504000" y="1656000"/>
            <a:ext cx="9071280" cy="295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6858000" y="4433760"/>
            <a:ext cx="2834280" cy="599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ctr"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Radovan Župunski ra20-2017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Aleksandar Ignjatijević ra11-2017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7920" y="648000"/>
            <a:ext cx="9071280" cy="2735640"/>
          </a:xfrm>
          <a:prstGeom prst="rect">
            <a:avLst/>
          </a:prstGeom>
          <a:solidFill>
            <a:srgbClr val="c7243a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Search engine u Python-u</a:t>
            </a:r>
            <a:endParaRPr b="0" lang="en-US" sz="44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Kratak sadržaj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504000" y="165600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1. Opis projektnog zadatka i funkcionalnosti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2. Korišćene strukture podataka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3. Skupovne operacije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4. Formiranje struktura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5. Sortiranje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2"/>
              </a:spcAft>
            </a:pPr>
            <a:endParaRPr b="0" lang="en-US" sz="32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1. Opis projektnog zadatka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504000" y="165600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U okviru projektnog zadatka implementirano je pretraživanje tekstualnih dokumenata (engl. search engine).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Program prilikom pokretanja obilazi stablo direktorijuma u datotečkom sistemu počevši od datog korena, da parsira tekstualne datoteke u njima i da izgradi strukture podataka potrebne za efikasno pretraživanje.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 </a:t>
            </a:r>
            <a:r>
              <a:rPr b="0" lang="en-US" sz="3200" spc="-1" strike="noStrike">
                <a:latin typeface="Arial"/>
              </a:rPr>
              <a:t>Nakon toga, program omogućuje korisniku da unosi tekstualne upite koji se sastoje od jedne ili više reči razdvojenih razmakom, pretražuje dokumente i korisniku ispisuje rangirane rezultate pretrage u vidu putanja do dokumenata.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Implementiran je korišćenjem Python 3.8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2"/>
              </a:spcAft>
            </a:pPr>
            <a:endParaRPr b="0" lang="en-US" sz="32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1.1 Parsiranje HTML dokumenata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337320" y="1683720"/>
            <a:ext cx="9767880" cy="316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Korisniku je omogućen izbor korenskog direktorijuma u okviru kojeg želi da pretražuje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dokumente. Dokumenti se pretražuju u zadatom direktorijumu kao i svim poddirektorijumima.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Parsiranje se vrši pomoću priloženog parsera.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Prilikom odabira korenskog direktorijuma implementiran je izbor između 2 odabira: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1. Odabir unosom relativne adrese u odnosu na “test-skup”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2. Odabirom jednog od ponuđenih direktorijuma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Takođe implementirana je zaštita prilikom odabira (onemogućen je izbor html dokumenta kao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“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direktorijum” i parsiraju se samo dokumenti sa ekstenzijama “html” i ”htm” tako da je izbegnuto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pucanje programa ukoliko se odabere direktorijum bez html dokumenata)</a:t>
            </a:r>
            <a:endParaRPr b="0" lang="en-US" sz="18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1.2 Unos upita za pretragu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504000" y="165600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Korisniku je omogućen unos upita koji može da se sastoji od jedne reči, više reči razdvojenih razmakom ili kombinaciju reči sa logičkim operatorom.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Ukoliko se u upitu nalazi bar jedan od logičkih operatora ("and", "not", "or") onda je potrebno da se on nalazi u sredini (primer upita: python and/or/not java)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"Not" je implementiran takođe i kao unarni operator (primer upita: not python)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Ukoliko je upit unesen u nizu reči bez logičkih operatora, smatraće se da je "or" između reči (primer upita: python programming language...)</a:t>
            </a:r>
            <a:endParaRPr b="0" lang="en-US" sz="32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1.3. Pretraga dokumenata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504000" y="165600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Algoritam pretrage obilaskom strukture podataka (Tree) izdvoji sve HTML dokumente koji odgovaraju unetom upitu.</a:t>
            </a:r>
            <a:endParaRPr b="0" lang="en-US" sz="32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1.4 Rangirana pretraga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504000" y="165600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Implementirano je rangiranje rezultujućih stranica pretrage tako da na rang stranice utiče: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broj pojavljivanja traženih reči na njoj,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broj linkova iz drugih stranica na pronađenu stranicu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broj traženih reči u stranicama koje sadrže link na traženu stranicu.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Ukoliko korisnik unosi upit sastavljen od više reči, rangiranje stranica po svakoj pojedinačnoj reči utiče na sveukupno rangiranje određene stranice.</a:t>
            </a:r>
            <a:endParaRPr b="0" lang="en-US" sz="32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457200" y="640080"/>
            <a:ext cx="9118080" cy="45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Rangiranje se vrši tako da je broj traženih reči najprioritetniji, ali ne i presudan tako da je moguće da iako stranica ima više traženih reči od neke druge stranice, ipak bude ispod nje. Broj linkova utiče sa koeficijentom od 1.5 (pola  u odnosu na koeficijent za broj reči).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Broj traženih reči u linkovima može da bude izuzetno velik pa da se ne bi desilo da dođe do prevelikog uticaja na rang, najpre se nađe prosečan broj reči u linkovima posmatrane stranice pa se zatim on množi sa koeficijentom 5. Do svih koeficijenata smo došli na osnovu velikog broja pretraga i nakon beleženja rezultata i korekcije svih koeficijenata došli smo do toga da je “optimalan” odnos koeficijenata 6:3:10.</a:t>
            </a:r>
            <a:endParaRPr b="0" lang="en-US" sz="32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1.5 Prikaz rezultata pretrage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504000" y="165600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Rezultati upita su putanje do HTML stranica (iz test-skup) sortirane po izračunatom rangu.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Prikazuje se: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rang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broj traženih reči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broj linkova na tu stranicu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broj reči u linkovima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2"/>
              </a:spcAft>
            </a:pPr>
            <a:endParaRPr b="0" lang="en-US" sz="320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1.6 Paginacija rezultata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504000" y="165600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Broj stranica koje se u jednom trenutku prikazuju može se dinamički promeniti od strane korisnika (inicijalno je postavljeno 5 html stranica po stranici pretrage).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Takođe, prilikom prikaza rezultat, omogućeno je korisniku da “skoči” na neku od stranica pretrage.</a:t>
            </a:r>
            <a:endParaRPr b="0" lang="en-US" sz="32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2. Korišćene strukture podataka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504000" y="165600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Prilikom implementacije, potrebno je koristiti sledeće strukture podataka: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HTML stranice test skupa podataka potrebno je organizovati u obliku usmerenog grafa (Graph).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Sve reči svih HTML stranica iz test skupa podataka potrebno je čuvati u trie stablu kako bi se omogućila efikasna pretraga (Trie).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Rezultat pretrage jedne ili više reči treba da bude skup HTML stranica (Set - Lista_bez_duplikata).</a:t>
            </a:r>
            <a:endParaRPr b="0" lang="en-US" sz="320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2.1 Struktura - Trie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412560" y="1512000"/>
            <a:ext cx="406764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Trie je izgrađen od pojedinačnih slova abecede. Svako slovo predstavlja TreeNode koji sadrzi u sebi: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Mapu pojavljivanja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Indikator kraja reči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Set dokumenata u kojima se pojavljuje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I “decu” 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rcRect l="46730" t="17690" r="6996" b="19402"/>
          <a:stretch/>
        </p:blipFill>
        <p:spPr>
          <a:xfrm>
            <a:off x="4663800" y="1425240"/>
            <a:ext cx="4662720" cy="35654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457200" y="731520"/>
            <a:ext cx="9118080" cy="445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Prilikom dodavanja reči</a:t>
            </a:r>
            <a:r>
              <a:rPr b="0" i="1" lang="en-US" sz="3200" spc="-1" strike="noStrike">
                <a:latin typeface="Arial"/>
              </a:rPr>
              <a:t> add_word(word,origin,file,map), </a:t>
            </a:r>
            <a:r>
              <a:rPr b="0" lang="en-US" sz="3200" spc="-1" strike="noStrike">
                <a:latin typeface="Arial"/>
              </a:rPr>
              <a:t>poziva se</a:t>
            </a:r>
            <a:r>
              <a:rPr b="0" i="1" lang="en-US" sz="3200" spc="-1" strike="noStrike">
                <a:latin typeface="Arial"/>
              </a:rPr>
              <a:t> does_word_exist(word)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latin typeface="Arial"/>
              </a:rPr>
              <a:t>does_word_exist(word) </a:t>
            </a:r>
            <a:r>
              <a:rPr b="0" lang="en-US" sz="3200" spc="-1" strike="noStrike">
                <a:latin typeface="Arial"/>
              </a:rPr>
              <a:t>prolazi kroz stablo i “pronalazi” datu reč. Vreme izvršavanja date funkcije je </a:t>
            </a:r>
            <a:r>
              <a:rPr b="0" i="1" lang="en-US" sz="3200" spc="-1" strike="noStrike">
                <a:latin typeface="Arial"/>
              </a:rPr>
              <a:t>O(dm) </a:t>
            </a:r>
            <a:r>
              <a:rPr b="0" lang="en-US" sz="3200" spc="-1" strike="noStrike">
                <a:latin typeface="Arial"/>
              </a:rPr>
              <a:t>[</a:t>
            </a:r>
            <a:r>
              <a:rPr b="0" i="1" lang="en-US" sz="3200" spc="-1" strike="noStrike">
                <a:latin typeface="Arial"/>
              </a:rPr>
              <a:t>d – broj slova abecede, m – dužina date reči </a:t>
            </a:r>
            <a:r>
              <a:rPr b="0" lang="en-US" sz="3200" spc="-1" strike="noStrike">
                <a:latin typeface="Arial"/>
              </a:rPr>
              <a:t>]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Ukoliko je prvi parametar funkcije </a:t>
            </a:r>
            <a:r>
              <a:rPr b="0" i="1" lang="en-US" sz="3200" spc="-1" strike="noStrike">
                <a:latin typeface="Arial"/>
              </a:rPr>
              <a:t>does_word_exist(word)</a:t>
            </a:r>
            <a:r>
              <a:rPr b="0" lang="en-US" sz="3200" spc="-1" strike="noStrike">
                <a:latin typeface="Arial"/>
              </a:rPr>
              <a:t> True znači da će samo dodati fajl odakle potiče reč u dati set funkcijom </a:t>
            </a:r>
            <a:r>
              <a:rPr b="0" i="1" lang="en-US" sz="3200" spc="-1" strike="noStrike">
                <a:latin typeface="Arial"/>
              </a:rPr>
              <a:t>add_element(origin_file).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U </a:t>
            </a:r>
            <a:r>
              <a:rPr b="0" i="1" lang="en-US" sz="3200" spc="-1" strike="noStrike">
                <a:latin typeface="Arial"/>
              </a:rPr>
              <a:t>add_element(origin_file) </a:t>
            </a:r>
            <a:r>
              <a:rPr b="0" lang="en-US" sz="3200" spc="-1" strike="noStrike">
                <a:latin typeface="Arial"/>
              </a:rPr>
              <a:t>se poziva </a:t>
            </a:r>
            <a:r>
              <a:rPr b="0" i="1" lang="en-US" sz="3200" spc="-1" strike="noStrike">
                <a:latin typeface="Arial"/>
              </a:rPr>
              <a:t>check_element(origin_file)</a:t>
            </a:r>
            <a:r>
              <a:rPr b="0" lang="en-US" sz="3200" spc="-1" strike="noStrike">
                <a:latin typeface="Arial"/>
              </a:rPr>
              <a:t> koja prolazi kroz set fajlova koja je na trenutnom čvoru i dodaje dati fajl u set. Pošto set nema duplikate mora se proveriti da li dati fajl postoji u tom setu, pa se to izvršava za </a:t>
            </a:r>
            <a:r>
              <a:rPr b="0" i="1" lang="en-US" sz="3200" spc="-1" strike="noStrike">
                <a:latin typeface="Arial"/>
              </a:rPr>
              <a:t>O(n) </a:t>
            </a:r>
            <a:r>
              <a:rPr b="0" lang="en-US" sz="3200" spc="-1" strike="noStrike">
                <a:latin typeface="Arial"/>
              </a:rPr>
              <a:t>[</a:t>
            </a:r>
            <a:r>
              <a:rPr b="0" i="1" lang="en-US" sz="3200" spc="-1" strike="noStrike">
                <a:latin typeface="Arial"/>
              </a:rPr>
              <a:t>n – broj fajlova u setu </a:t>
            </a:r>
            <a:r>
              <a:rPr b="0" lang="en-US" sz="3200" spc="-1" strike="noStrike">
                <a:latin typeface="Arial"/>
              </a:rPr>
              <a:t>].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U slučaju da reč ne postoji u Trie, potrebno je dodati reč I to se izvršava </a:t>
            </a:r>
            <a:r>
              <a:rPr b="0" i="1" lang="en-US" sz="3200" spc="-1" strike="noStrike">
                <a:latin typeface="Arial"/>
              </a:rPr>
              <a:t>O(dm). </a:t>
            </a:r>
            <a:r>
              <a:rPr b="0" lang="en-US" sz="3200" spc="-1" strike="noStrike">
                <a:latin typeface="Arial"/>
              </a:rPr>
              <a:t>Nakon toga se poziva </a:t>
            </a:r>
            <a:r>
              <a:rPr b="0" i="1" lang="en-US" sz="3200" spc="-1" strike="noStrike">
                <a:latin typeface="Arial"/>
              </a:rPr>
              <a:t>add_element(origin_file) </a:t>
            </a:r>
            <a:r>
              <a:rPr b="0" lang="en-US" sz="3200" spc="-1" strike="noStrike">
                <a:latin typeface="Arial"/>
              </a:rPr>
              <a:t>koje dodaje element u set.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Ukupno vreme izvrsavanja dodavanja reči je </a:t>
            </a:r>
            <a:r>
              <a:rPr b="0" i="1" lang="en-US" sz="3200" spc="-1" strike="noStrike">
                <a:latin typeface="Arial"/>
              </a:rPr>
              <a:t>O(dm</a:t>
            </a:r>
            <a:r>
              <a:rPr b="0" i="1" lang="en-US" sz="3200" spc="-1" strike="noStrike">
                <a:latin typeface="Arial"/>
                <a:ea typeface="Arial"/>
              </a:rPr>
              <a:t>+n)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2"/>
              </a:spcAft>
            </a:pPr>
            <a:endParaRPr b="0" lang="en-US" sz="32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504000" y="165600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Pretraga se odnosi na pozivanje </a:t>
            </a:r>
            <a:r>
              <a:rPr b="0" i="1" lang="en-US" sz="3200" spc="-1" strike="noStrike">
                <a:latin typeface="Arial"/>
              </a:rPr>
              <a:t>does_word_exist(word) </a:t>
            </a:r>
            <a:r>
              <a:rPr b="0" lang="en-US" sz="3200" spc="-1" strike="noStrike">
                <a:latin typeface="Arial"/>
              </a:rPr>
              <a:t>koja vraća 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1. True-False da li postoji data reč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2. Set dokumenata u kojima se nalazi reč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3. Mapa pojavljivanja reči</a:t>
            </a:r>
            <a:endParaRPr b="0" lang="en-US" sz="320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2.2 Struktura - Graph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504000" y="1656000"/>
            <a:ext cx="55306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Usmereni graf je struktura podataka koja podrazumeva par (V, E) gde je V set čvorova (u ovom slučaju html stranice), a E je skup usmerenih grana (u ovom slučaju linkovi između html stranica).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5902560" y="1512000"/>
            <a:ext cx="4177080" cy="24148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457200" y="769680"/>
            <a:ext cx="9600840" cy="407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Čvorovi grafa se prave pozivom metode </a:t>
            </a:r>
            <a:r>
              <a:rPr b="0" i="1" lang="en-US" sz="3200" spc="-1" strike="noStrike">
                <a:latin typeface="Arial"/>
              </a:rPr>
              <a:t>insert_vertex(x)</a:t>
            </a:r>
            <a:r>
              <a:rPr b="0" lang="en-US" sz="3200" spc="-1" strike="noStrike">
                <a:latin typeface="Arial"/>
              </a:rPr>
              <a:t>, gde je x vrednost čvora. Nemoguće je da se u grafu jave dva ista čvora. Pre stvarenja čvora poziva se metoda </a:t>
            </a:r>
            <a:r>
              <a:rPr b="0" i="1" lang="en-US" sz="3200" spc="-1" strike="noStrike">
                <a:latin typeface="Arial"/>
              </a:rPr>
              <a:t>_validate_vertex(v), </a:t>
            </a:r>
            <a:r>
              <a:rPr b="0" lang="en-US" sz="3200" spc="-1" strike="noStrike">
                <a:latin typeface="Arial"/>
              </a:rPr>
              <a:t>gde je </a:t>
            </a:r>
            <a:r>
              <a:rPr b="0" i="1" lang="en-US" sz="3200" spc="-1" strike="noStrike">
                <a:latin typeface="Arial"/>
              </a:rPr>
              <a:t>v</a:t>
            </a:r>
            <a:r>
              <a:rPr b="0" lang="en-US" sz="3200" spc="-1" strike="noStrike">
                <a:latin typeface="Arial"/>
              </a:rPr>
              <a:t> čvor koji proveravamo da li postoji. Vreme izvršavanja metode </a:t>
            </a:r>
            <a:r>
              <a:rPr b="0" i="1" lang="en-US" sz="3200" spc="-1" strike="noStrike">
                <a:latin typeface="Arial"/>
              </a:rPr>
              <a:t>insert_vertex(x) </a:t>
            </a:r>
            <a:r>
              <a:rPr b="0" lang="en-US" sz="3200" spc="-1" strike="noStrike">
                <a:latin typeface="Arial"/>
              </a:rPr>
              <a:t>je </a:t>
            </a:r>
            <a:r>
              <a:rPr b="0" i="1" lang="en-US" sz="3200" spc="-1" strike="noStrike">
                <a:latin typeface="Arial"/>
              </a:rPr>
              <a:t>O(1)</a:t>
            </a:r>
            <a:r>
              <a:rPr b="0" lang="en-US" sz="3200" spc="-1" strike="noStrike">
                <a:latin typeface="Arial"/>
              </a:rPr>
              <a:t>.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2"/>
              </a:spcAft>
            </a:pPr>
            <a:endParaRPr b="0" lang="en-US" sz="3200" spc="-1" strike="noStrike">
              <a:latin typeface="Arial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504000" y="165600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Nakon formiranja</a:t>
            </a:r>
            <a:r>
              <a:rPr b="0" i="1" lang="en-US" sz="3200" spc="-1" strike="noStrike">
                <a:latin typeface="Arial"/>
              </a:rPr>
              <a:t> </a:t>
            </a:r>
            <a:r>
              <a:rPr b="0" lang="en-US" sz="3200" spc="-1" strike="noStrike">
                <a:latin typeface="Arial"/>
              </a:rPr>
              <a:t>čvorova stvaraju se veze između čvorova metodom </a:t>
            </a:r>
            <a:r>
              <a:rPr b="0" i="1" lang="en-US" sz="3200" spc="-1" strike="noStrike">
                <a:latin typeface="Arial"/>
              </a:rPr>
              <a:t>insert_edge(u, v, x), </a:t>
            </a:r>
            <a:r>
              <a:rPr b="0" lang="en-US" sz="3200" spc="-1" strike="noStrike">
                <a:latin typeface="Arial"/>
              </a:rPr>
              <a:t> [</a:t>
            </a:r>
            <a:r>
              <a:rPr b="0" i="1" lang="en-US" sz="3200" spc="-1" strike="noStrike">
                <a:latin typeface="Arial"/>
              </a:rPr>
              <a:t>u – polazni čvor, v – završni čvor, x – vrednost veze</a:t>
            </a:r>
            <a:r>
              <a:rPr b="0" lang="en-US" sz="3200" spc="-1" strike="noStrike">
                <a:latin typeface="Arial"/>
              </a:rPr>
              <a:t>]. 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Vreme izvršavanja metode </a:t>
            </a:r>
            <a:r>
              <a:rPr b="0" i="1" lang="en-US" sz="3200" spc="-1" strike="noStrike">
                <a:latin typeface="Arial"/>
              </a:rPr>
              <a:t>insert_edge(u, v, x) </a:t>
            </a:r>
            <a:r>
              <a:rPr b="0" lang="en-US" sz="3200" spc="-1" strike="noStrike">
                <a:latin typeface="Arial"/>
              </a:rPr>
              <a:t>je </a:t>
            </a:r>
            <a:r>
              <a:rPr b="0" i="1" lang="en-US" sz="3200" spc="-1" strike="noStrike">
                <a:latin typeface="Arial"/>
              </a:rPr>
              <a:t>O(1)</a:t>
            </a:r>
            <a:r>
              <a:rPr b="0" lang="en-US" sz="3200" spc="-1" strike="noStrike">
                <a:latin typeface="Arial"/>
              </a:rPr>
              <a:t>.</a:t>
            </a:r>
            <a:endParaRPr b="0" lang="en-US" sz="3200" spc="-1" strike="noStrike">
              <a:latin typeface="Arial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365760" y="640080"/>
            <a:ext cx="10698120" cy="124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2.3 Struktura – </a:t>
            </a:r>
            <a:br/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Set (Lista_bez_duplikata)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365760" y="246888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Set je implementiran preko klase koja ima za polje listu ( self.list=list() ) i ima svoje metode za dodavanje i za proveru postojanja elemenata u njoj, tako da je nemoguće dodati već postojeći element.</a:t>
            </a:r>
            <a:endParaRPr b="0" lang="en-US" sz="3200" spc="-1" strike="noStrike">
              <a:latin typeface="Arial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3. Skupovne operacije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504000" y="165600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Skupovne operacije implementirane su u fajlu </a:t>
            </a:r>
            <a:r>
              <a:rPr b="0" i="1" lang="en-US" sz="3200" spc="-1" strike="noStrike">
                <a:latin typeface="Arial"/>
              </a:rPr>
              <a:t>skupovne_operacije.py 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Podrazumevaju operacije: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comp_op(lista1,lista2) </a:t>
            </a:r>
            <a:r>
              <a:rPr b="0" i="1" lang="en-US" sz="3200" spc="-1" strike="noStrike">
                <a:latin typeface="Arial"/>
              </a:rPr>
              <a:t>[O(mn</a:t>
            </a:r>
            <a:r>
              <a:rPr b="0" i="1" lang="en-US" sz="3200" spc="-1" strike="noStrike">
                <a:latin typeface="Arial"/>
                <a:ea typeface="Arial"/>
              </a:rPr>
              <a:t>), m - broj elemenata u lista1, n – broj elemenata u lista2]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  <a:ea typeface="Arial"/>
              </a:rPr>
              <a:t>and_op(lista1,lista2) </a:t>
            </a:r>
            <a:r>
              <a:rPr b="0" i="1" lang="en-US" sz="3200" spc="-1" strike="noStrike">
                <a:latin typeface="Arial"/>
                <a:ea typeface="Arial"/>
              </a:rPr>
              <a:t>[O(mn), m - broj elemenata u lista1, n – broj elemenata u lista2]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  <a:ea typeface="Arial"/>
              </a:rPr>
              <a:t>or_op(lista1,lista2) </a:t>
            </a:r>
            <a:r>
              <a:rPr b="0" i="1" lang="en-US" sz="3200" spc="-1" strike="noStrike">
                <a:latin typeface="Arial"/>
                <a:ea typeface="Arial"/>
              </a:rPr>
              <a:t>[O(m+n), m - broj elemenata u lista1, n – broj elemenata u lista2]</a:t>
            </a:r>
            <a:r>
              <a:rPr b="0" lang="en-US" sz="3200" spc="-1" strike="noStrike">
                <a:latin typeface="Arial"/>
                <a:ea typeface="Arial"/>
              </a:rPr>
              <a:t>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  <a:ea typeface="Arial"/>
              </a:rPr>
              <a:t>Sve funkcije koriste objekte klase Lista_bez_duplikata().</a:t>
            </a:r>
            <a:endParaRPr b="0" lang="en-US" sz="3200" spc="-1" strike="noStrike">
              <a:latin typeface="Arial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4. Formiranje struktura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504000" y="165600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Nakon odabira korenskog direktorijuma, rekurzivno se prolazi kroz sve fajlove direktorijuma I poddirektorijuma prilikom čega se formiraju čvorovi, stablo i veze između čvorova.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Prolaz kroz direktorijume se izvršava funkcijom </a:t>
            </a:r>
            <a:r>
              <a:rPr b="0" i="1" lang="en-US" sz="3200" spc="-1" strike="noStrike">
                <a:latin typeface="Arial"/>
              </a:rPr>
              <a:t>os.path.listdir(file_path).</a:t>
            </a:r>
            <a:endParaRPr b="0" lang="en-US" sz="3200" spc="-1" strike="noStrike">
              <a:latin typeface="Arial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504000" y="56556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5. Sortiranje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504000" y="1656000"/>
            <a:ext cx="9279720" cy="136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Prilikom izrade projekta za potrebe sortiranja stranica implementiran je </a:t>
            </a:r>
            <a:r>
              <a:rPr b="0" i="1" lang="en-US" sz="3200" spc="-1" strike="noStrike">
                <a:latin typeface="Arial"/>
              </a:rPr>
              <a:t>quick sort </a:t>
            </a:r>
            <a:r>
              <a:rPr b="0" lang="en-US" sz="3200" spc="-1" strike="noStrike">
                <a:latin typeface="Arial"/>
              </a:rPr>
              <a:t>algoritam.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latin typeface="Arial"/>
              </a:rPr>
              <a:t>Quick sort </a:t>
            </a:r>
            <a:r>
              <a:rPr b="0" lang="en-US" sz="3200" spc="-1" strike="noStrike">
                <a:latin typeface="Arial"/>
              </a:rPr>
              <a:t> je podeli-pa-vladaj algoritam i može se podeliti u tri koraka: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1. Izbor pivota i podela na L, E, G podskupove, gde su L elementi manji od pivota, E su elementi jednaki pivotu i G su elementi veci od pivota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2. Sortiranje L i G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3. Spajanje sortiranih L, E i G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640080" y="3108960"/>
            <a:ext cx="6695280" cy="2193480"/>
          </a:xfrm>
          <a:prstGeom prst="rect">
            <a:avLst/>
          </a:prstGeom>
          <a:ln>
            <a:noFill/>
          </a:ln>
        </p:spPr>
      </p:pic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504000" y="1656000"/>
            <a:ext cx="9071280" cy="35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Pivot je uvek poslednji element u ovoj implementaciji.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latin typeface="Arial"/>
              </a:rPr>
              <a:t>Worst case scenario: </a:t>
            </a:r>
            <a:r>
              <a:rPr b="0" lang="en-US" sz="3200" spc="-1" strike="noStrike">
                <a:latin typeface="Arial"/>
              </a:rPr>
              <a:t>vreme izvršavanja je </a:t>
            </a:r>
            <a:r>
              <a:rPr b="0" i="1" lang="en-US" sz="3200" spc="-1" strike="noStrike">
                <a:latin typeface="Arial"/>
              </a:rPr>
              <a:t>O(n</a:t>
            </a:r>
            <a:r>
              <a:rPr b="0" i="1" lang="en-US" sz="3200" spc="-1" strike="noStrike">
                <a:latin typeface="Arial"/>
                <a:ea typeface="Arial"/>
              </a:rPr>
              <a:t>²).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latin typeface="Arial"/>
                <a:ea typeface="Arial"/>
              </a:rPr>
              <a:t>Avg. case scenario: </a:t>
            </a:r>
            <a:r>
              <a:rPr b="0" lang="en-US" sz="3200" spc="-1" strike="noStrike">
                <a:latin typeface="Arial"/>
                <a:ea typeface="Arial"/>
              </a:rPr>
              <a:t>vreme izvršavanja je </a:t>
            </a:r>
            <a:r>
              <a:rPr b="0" i="1" lang="en-US" sz="3200" spc="-1" strike="noStrike">
                <a:latin typeface="Arial"/>
                <a:ea typeface="Arial"/>
              </a:rPr>
              <a:t>O(nLogn).</a:t>
            </a:r>
            <a:endParaRPr b="0" lang="en-US" sz="3200" spc="-1" strike="noStrike">
              <a:latin typeface="Arial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548640" y="79092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Hvala na pažnji.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1152000" y="2160000"/>
            <a:ext cx="2735640" cy="2159640"/>
          </a:xfrm>
          <a:custGeom>
            <a:avLst/>
            <a:gdLst/>
            <a:ahLst/>
            <a:rect l="l" t="t" r="r" b="b"/>
            <a:pathLst>
              <a:path w="7601" h="6002">
                <a:moveTo>
                  <a:pt x="0" y="0"/>
                </a:moveTo>
                <a:lnTo>
                  <a:pt x="5700" y="0"/>
                </a:lnTo>
                <a:lnTo>
                  <a:pt x="7600" y="3000"/>
                </a:lnTo>
                <a:lnTo>
                  <a:pt x="5700" y="6001"/>
                </a:lnTo>
                <a:lnTo>
                  <a:pt x="0" y="6001"/>
                </a:lnTo>
                <a:lnTo>
                  <a:pt x="0" y="0"/>
                </a:lnTo>
              </a:path>
            </a:pathLst>
          </a:custGeom>
          <a:solidFill>
            <a:srgbClr val="c7243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CustomShape 3"/>
          <p:cNvSpPr/>
          <p:nvPr/>
        </p:nvSpPr>
        <p:spPr>
          <a:xfrm>
            <a:off x="3672000" y="2160000"/>
            <a:ext cx="2807640" cy="2159640"/>
          </a:xfrm>
          <a:custGeom>
            <a:avLst/>
            <a:gdLst/>
            <a:ahLst/>
            <a:rect l="l" t="t" r="r" b="b"/>
            <a:pathLst>
              <a:path w="7802" h="6002">
                <a:moveTo>
                  <a:pt x="0" y="0"/>
                </a:moveTo>
                <a:lnTo>
                  <a:pt x="5850" y="0"/>
                </a:lnTo>
                <a:lnTo>
                  <a:pt x="7801" y="3000"/>
                </a:lnTo>
                <a:lnTo>
                  <a:pt x="5850" y="6001"/>
                </a:lnTo>
                <a:lnTo>
                  <a:pt x="0" y="6001"/>
                </a:lnTo>
                <a:lnTo>
                  <a:pt x="1950" y="3000"/>
                </a:lnTo>
                <a:lnTo>
                  <a:pt x="0" y="0"/>
                </a:lnTo>
              </a:path>
            </a:pathLst>
          </a:custGeom>
          <a:solidFill>
            <a:srgbClr val="edad0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CustomShape 4"/>
          <p:cNvSpPr/>
          <p:nvPr/>
        </p:nvSpPr>
        <p:spPr>
          <a:xfrm>
            <a:off x="6229440" y="2160000"/>
            <a:ext cx="2807640" cy="2159640"/>
          </a:xfrm>
          <a:custGeom>
            <a:avLst/>
            <a:gdLst/>
            <a:ahLst/>
            <a:rect l="l" t="t" r="r" b="b"/>
            <a:pathLst>
              <a:path w="7802" h="6002">
                <a:moveTo>
                  <a:pt x="0" y="0"/>
                </a:moveTo>
                <a:lnTo>
                  <a:pt x="5850" y="0"/>
                </a:lnTo>
                <a:lnTo>
                  <a:pt x="7801" y="3000"/>
                </a:lnTo>
                <a:lnTo>
                  <a:pt x="5850" y="6001"/>
                </a:lnTo>
                <a:lnTo>
                  <a:pt x="0" y="6001"/>
                </a:lnTo>
                <a:lnTo>
                  <a:pt x="1950" y="3000"/>
                </a:lnTo>
                <a:lnTo>
                  <a:pt x="0" y="0"/>
                </a:lnTo>
              </a:path>
            </a:pathLst>
          </a:custGeom>
          <a:solidFill>
            <a:srgbClr val="009f8c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2020-02-26T17:12:51Z</dcterms:created>
  <dc:creator/>
  <dc:description/>
  <dc:language>en-US</dc:language>
  <cp:lastModifiedBy/>
  <dcterms:modified xsi:type="dcterms:W3CDTF">2020-02-28T21:56:11Z</dcterms:modified>
  <cp:revision>5</cp:revision>
  <dc:subject/>
  <dc:title>Classy Red</dc:title>
</cp:coreProperties>
</file>